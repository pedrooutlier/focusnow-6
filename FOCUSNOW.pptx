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Blinker" panose="020B0604020202020204" charset="0"/>
      <p:regular r:id="rId11"/>
    </p:embeddedFont>
    <p:embeddedFont>
      <p:font typeface="Clear Sans" panose="020B0604020202020204" charset="0"/>
      <p:regular r:id="rId12"/>
    </p:embeddedFont>
    <p:embeddedFont>
      <p:font typeface="League Spartan" panose="020B0604020202020204" charset="0"/>
      <p:regular r:id="rId13"/>
    </p:embeddedFont>
    <p:embeddedFont>
      <p:font typeface="Lexend Deca" panose="020B0604020202020204" charset="0"/>
      <p:regular r:id="rId14"/>
    </p:embeddedFont>
    <p:embeddedFont>
      <p:font typeface="Saira ExtraCondensed Semi-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40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20281" y="4250046"/>
            <a:ext cx="7632224" cy="1700615"/>
            <a:chOff x="0" y="0"/>
            <a:chExt cx="2010133" cy="4478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10133" cy="447899"/>
            </a:xfrm>
            <a:custGeom>
              <a:avLst/>
              <a:gdLst/>
              <a:ahLst/>
              <a:cxnLst/>
              <a:rect l="l" t="t" r="r" b="b"/>
              <a:pathLst>
                <a:path w="2010133" h="447899">
                  <a:moveTo>
                    <a:pt x="0" y="0"/>
                  </a:moveTo>
                  <a:lnTo>
                    <a:pt x="2010133" y="0"/>
                  </a:lnTo>
                  <a:lnTo>
                    <a:pt x="2010133" y="447899"/>
                  </a:lnTo>
                  <a:lnTo>
                    <a:pt x="0" y="447899"/>
                  </a:lnTo>
                  <a:close/>
                </a:path>
              </a:pathLst>
            </a:custGeom>
            <a:solidFill>
              <a:srgbClr val="FBAB0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10133" cy="505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0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720281" y="6388811"/>
            <a:ext cx="7632224" cy="1743911"/>
            <a:chOff x="0" y="0"/>
            <a:chExt cx="2010133" cy="4593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10133" cy="459302"/>
            </a:xfrm>
            <a:custGeom>
              <a:avLst/>
              <a:gdLst/>
              <a:ahLst/>
              <a:cxnLst/>
              <a:rect l="l" t="t" r="r" b="b"/>
              <a:pathLst>
                <a:path w="2010133" h="459302">
                  <a:moveTo>
                    <a:pt x="0" y="0"/>
                  </a:moveTo>
                  <a:lnTo>
                    <a:pt x="2010133" y="0"/>
                  </a:lnTo>
                  <a:lnTo>
                    <a:pt x="2010133" y="459302"/>
                  </a:lnTo>
                  <a:lnTo>
                    <a:pt x="0" y="459302"/>
                  </a:lnTo>
                  <a:close/>
                </a:path>
              </a:pathLst>
            </a:custGeom>
            <a:solidFill>
              <a:srgbClr val="FBAB0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010133" cy="5164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05"/>
                </a:lnSpc>
              </a:pPr>
              <a:endParaRPr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325182" y="864491"/>
            <a:ext cx="4762037" cy="9422509"/>
            <a:chOff x="0" y="0"/>
            <a:chExt cx="2620010" cy="5184140"/>
          </a:xfrm>
        </p:grpSpPr>
        <p:sp>
          <p:nvSpPr>
            <p:cNvPr id="9" name="Freeform 9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5491" r="-4485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18" name="AutoShape 18"/>
          <p:cNvSpPr/>
          <p:nvPr/>
        </p:nvSpPr>
        <p:spPr>
          <a:xfrm>
            <a:off x="1864113" y="5711245"/>
            <a:ext cx="8233907" cy="0"/>
          </a:xfrm>
          <a:prstGeom prst="line">
            <a:avLst/>
          </a:prstGeom>
          <a:ln w="47625" cap="rnd">
            <a:solidFill>
              <a:srgbClr val="BC6C0C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19" name="Freeform 19"/>
          <p:cNvSpPr/>
          <p:nvPr/>
        </p:nvSpPr>
        <p:spPr>
          <a:xfrm rot="2071566">
            <a:off x="-581326" y="7386177"/>
            <a:ext cx="3220051" cy="3744246"/>
          </a:xfrm>
          <a:custGeom>
            <a:avLst/>
            <a:gdLst/>
            <a:ahLst/>
            <a:cxnLst/>
            <a:rect l="l" t="t" r="r" b="b"/>
            <a:pathLst>
              <a:path w="3220051" h="3744246">
                <a:moveTo>
                  <a:pt x="0" y="0"/>
                </a:moveTo>
                <a:lnTo>
                  <a:pt x="3220052" y="0"/>
                </a:lnTo>
                <a:lnTo>
                  <a:pt x="3220052" y="3744246"/>
                </a:lnTo>
                <a:lnTo>
                  <a:pt x="0" y="37442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2123505" y="257949"/>
            <a:ext cx="7745114" cy="646926"/>
            <a:chOff x="0" y="0"/>
            <a:chExt cx="10326819" cy="862568"/>
          </a:xfrm>
        </p:grpSpPr>
        <p:sp>
          <p:nvSpPr>
            <p:cNvPr id="21" name="AutoShape 21"/>
            <p:cNvSpPr/>
            <p:nvPr/>
          </p:nvSpPr>
          <p:spPr>
            <a:xfrm flipV="1">
              <a:off x="0" y="431284"/>
              <a:ext cx="3050807" cy="0"/>
            </a:xfrm>
            <a:prstGeom prst="line">
              <a:avLst/>
            </a:prstGeom>
            <a:ln w="63500" cap="rnd">
              <a:solidFill>
                <a:srgbClr val="FBAB05"/>
              </a:solidFill>
              <a:prstDash val="sysDash"/>
              <a:headEnd type="oval" w="lg" len="lg"/>
              <a:tailEnd type="none" w="sm" len="sm"/>
            </a:ln>
          </p:spPr>
        </p:sp>
        <p:sp>
          <p:nvSpPr>
            <p:cNvPr id="22" name="AutoShape 22"/>
            <p:cNvSpPr/>
            <p:nvPr/>
          </p:nvSpPr>
          <p:spPr>
            <a:xfrm flipV="1">
              <a:off x="7276012" y="399534"/>
              <a:ext cx="3050807" cy="0"/>
            </a:xfrm>
            <a:prstGeom prst="line">
              <a:avLst/>
            </a:prstGeom>
            <a:ln w="63500" cap="rnd">
              <a:solidFill>
                <a:srgbClr val="FBAB05"/>
              </a:solidFill>
              <a:prstDash val="sysDash"/>
              <a:headEnd type="none" w="sm" len="sm"/>
              <a:tailEnd type="oval" w="lg" len="lg"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2923807" y="0"/>
              <a:ext cx="4403005" cy="862568"/>
              <a:chOff x="0" y="0"/>
              <a:chExt cx="2074482" cy="4064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07448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074482" h="406400">
                    <a:moveTo>
                      <a:pt x="1871282" y="0"/>
                    </a:moveTo>
                    <a:cubicBezTo>
                      <a:pt x="1983506" y="0"/>
                      <a:pt x="2074482" y="90976"/>
                      <a:pt x="2074482" y="203200"/>
                    </a:cubicBezTo>
                    <a:cubicBezTo>
                      <a:pt x="2074482" y="315424"/>
                      <a:pt x="1983506" y="406400"/>
                      <a:pt x="1871282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F7EC"/>
              </a:solidFill>
              <a:ln w="47625" cap="sq">
                <a:solidFill>
                  <a:srgbClr val="BC6C0C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47625"/>
                <a:ext cx="2074482" cy="454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3150189" y="33138"/>
              <a:ext cx="3950241" cy="7296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19"/>
                </a:lnSpc>
                <a:spcBef>
                  <a:spcPct val="0"/>
                </a:spcBef>
              </a:pPr>
              <a:r>
                <a:rPr lang="en-US" sz="3299" b="1">
                  <a:solidFill>
                    <a:srgbClr val="70170A"/>
                  </a:solidFill>
                  <a:latin typeface="Saira ExtraCondensed Semi-Bold"/>
                  <a:ea typeface="Saira ExtraCondensed Semi-Bold"/>
                  <a:cs typeface="Saira ExtraCondensed Semi-Bold"/>
                  <a:sym typeface="Saira ExtraCondensed Semi-Bold"/>
                </a:rPr>
                <a:t>EDUARDO ANDRADE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123505" y="1047750"/>
            <a:ext cx="7745114" cy="646926"/>
            <a:chOff x="0" y="0"/>
            <a:chExt cx="10326819" cy="862568"/>
          </a:xfrm>
        </p:grpSpPr>
        <p:sp>
          <p:nvSpPr>
            <p:cNvPr id="28" name="AutoShape 28"/>
            <p:cNvSpPr/>
            <p:nvPr/>
          </p:nvSpPr>
          <p:spPr>
            <a:xfrm flipV="1">
              <a:off x="0" y="431284"/>
              <a:ext cx="3050807" cy="0"/>
            </a:xfrm>
            <a:prstGeom prst="line">
              <a:avLst/>
            </a:prstGeom>
            <a:ln w="63500" cap="rnd">
              <a:solidFill>
                <a:srgbClr val="FBAB05"/>
              </a:solidFill>
              <a:prstDash val="sysDash"/>
              <a:headEnd type="oval" w="lg" len="lg"/>
              <a:tailEnd type="none" w="sm" len="sm"/>
            </a:ln>
          </p:spPr>
        </p:sp>
        <p:sp>
          <p:nvSpPr>
            <p:cNvPr id="29" name="AutoShape 29"/>
            <p:cNvSpPr/>
            <p:nvPr/>
          </p:nvSpPr>
          <p:spPr>
            <a:xfrm flipV="1">
              <a:off x="7276012" y="399534"/>
              <a:ext cx="3050807" cy="0"/>
            </a:xfrm>
            <a:prstGeom prst="line">
              <a:avLst/>
            </a:prstGeom>
            <a:ln w="63500" cap="rnd">
              <a:solidFill>
                <a:srgbClr val="FBAB05"/>
              </a:solidFill>
              <a:prstDash val="sysDash"/>
              <a:headEnd type="none" w="sm" len="sm"/>
              <a:tailEnd type="oval" w="lg" len="lg"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2923807" y="0"/>
              <a:ext cx="4403005" cy="862568"/>
              <a:chOff x="0" y="0"/>
              <a:chExt cx="2074482" cy="4064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207448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074482" h="406400">
                    <a:moveTo>
                      <a:pt x="1871282" y="0"/>
                    </a:moveTo>
                    <a:cubicBezTo>
                      <a:pt x="1983506" y="0"/>
                      <a:pt x="2074482" y="90976"/>
                      <a:pt x="2074482" y="203200"/>
                    </a:cubicBezTo>
                    <a:cubicBezTo>
                      <a:pt x="2074482" y="315424"/>
                      <a:pt x="1983506" y="406400"/>
                      <a:pt x="1871282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F7EC"/>
              </a:solidFill>
              <a:ln w="47625" cap="sq">
                <a:solidFill>
                  <a:srgbClr val="BC6C0C"/>
                </a:solidFill>
                <a:prstDash val="solid"/>
                <a:miter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2074482" cy="454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3150189" y="33138"/>
              <a:ext cx="3950241" cy="7296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19"/>
                </a:lnSpc>
                <a:spcBef>
                  <a:spcPct val="0"/>
                </a:spcBef>
              </a:pPr>
              <a:r>
                <a:rPr lang="en-US" sz="3299" b="1">
                  <a:solidFill>
                    <a:srgbClr val="70170A"/>
                  </a:solidFill>
                  <a:latin typeface="Saira ExtraCondensed Semi-Bold"/>
                  <a:ea typeface="Saira ExtraCondensed Semi-Bold"/>
                  <a:cs typeface="Saira ExtraCondensed Semi-Bold"/>
                  <a:sym typeface="Saira ExtraCondensed Semi-Bold"/>
                </a:rPr>
                <a:t>HELTON RODRIGUES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123505" y="1837551"/>
            <a:ext cx="7745114" cy="646926"/>
            <a:chOff x="0" y="0"/>
            <a:chExt cx="10326819" cy="862568"/>
          </a:xfrm>
        </p:grpSpPr>
        <p:sp>
          <p:nvSpPr>
            <p:cNvPr id="35" name="AutoShape 35"/>
            <p:cNvSpPr/>
            <p:nvPr/>
          </p:nvSpPr>
          <p:spPr>
            <a:xfrm flipV="1">
              <a:off x="0" y="431284"/>
              <a:ext cx="3050807" cy="0"/>
            </a:xfrm>
            <a:prstGeom prst="line">
              <a:avLst/>
            </a:prstGeom>
            <a:ln w="63500" cap="rnd">
              <a:solidFill>
                <a:srgbClr val="FBAB05"/>
              </a:solidFill>
              <a:prstDash val="sysDash"/>
              <a:headEnd type="oval" w="lg" len="lg"/>
              <a:tailEnd type="none" w="sm" len="sm"/>
            </a:ln>
          </p:spPr>
        </p:sp>
        <p:sp>
          <p:nvSpPr>
            <p:cNvPr id="36" name="AutoShape 36"/>
            <p:cNvSpPr/>
            <p:nvPr/>
          </p:nvSpPr>
          <p:spPr>
            <a:xfrm flipV="1">
              <a:off x="7276012" y="399534"/>
              <a:ext cx="3050807" cy="0"/>
            </a:xfrm>
            <a:prstGeom prst="line">
              <a:avLst/>
            </a:prstGeom>
            <a:ln w="63500" cap="rnd">
              <a:solidFill>
                <a:srgbClr val="FBAB05"/>
              </a:solidFill>
              <a:prstDash val="sysDash"/>
              <a:headEnd type="none" w="sm" len="sm"/>
              <a:tailEnd type="oval" w="lg" len="lg"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2923807" y="0"/>
              <a:ext cx="4403005" cy="862568"/>
              <a:chOff x="0" y="0"/>
              <a:chExt cx="2074482" cy="4064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207448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074482" h="406400">
                    <a:moveTo>
                      <a:pt x="1871282" y="0"/>
                    </a:moveTo>
                    <a:cubicBezTo>
                      <a:pt x="1983506" y="0"/>
                      <a:pt x="2074482" y="90976"/>
                      <a:pt x="2074482" y="203200"/>
                    </a:cubicBezTo>
                    <a:cubicBezTo>
                      <a:pt x="2074482" y="315424"/>
                      <a:pt x="1983506" y="406400"/>
                      <a:pt x="1871282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F7EC"/>
              </a:solidFill>
              <a:ln w="47625" cap="sq">
                <a:solidFill>
                  <a:srgbClr val="BC6C0C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-47625"/>
                <a:ext cx="2074482" cy="454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3150189" y="33138"/>
              <a:ext cx="3950241" cy="7296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19"/>
                </a:lnSpc>
                <a:spcBef>
                  <a:spcPct val="0"/>
                </a:spcBef>
              </a:pPr>
              <a:r>
                <a:rPr lang="en-US" sz="3299" b="1">
                  <a:solidFill>
                    <a:srgbClr val="70170A"/>
                  </a:solidFill>
                  <a:latin typeface="Saira ExtraCondensed Semi-Bold"/>
                  <a:ea typeface="Saira ExtraCondensed Semi-Bold"/>
                  <a:cs typeface="Saira ExtraCondensed Semi-Bold"/>
                  <a:sym typeface="Saira ExtraCondensed Semi-Bold"/>
                </a:rPr>
                <a:t>LEONARDO FELIPE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123505" y="2626190"/>
            <a:ext cx="7745114" cy="646926"/>
            <a:chOff x="0" y="0"/>
            <a:chExt cx="10326819" cy="862568"/>
          </a:xfrm>
        </p:grpSpPr>
        <p:sp>
          <p:nvSpPr>
            <p:cNvPr id="42" name="AutoShape 42"/>
            <p:cNvSpPr/>
            <p:nvPr/>
          </p:nvSpPr>
          <p:spPr>
            <a:xfrm flipV="1">
              <a:off x="0" y="431284"/>
              <a:ext cx="3050807" cy="0"/>
            </a:xfrm>
            <a:prstGeom prst="line">
              <a:avLst/>
            </a:prstGeom>
            <a:ln w="63500" cap="rnd">
              <a:solidFill>
                <a:srgbClr val="FBAB05"/>
              </a:solidFill>
              <a:prstDash val="sysDash"/>
              <a:headEnd type="oval" w="lg" len="lg"/>
              <a:tailEnd type="none" w="sm" len="sm"/>
            </a:ln>
          </p:spPr>
        </p:sp>
        <p:sp>
          <p:nvSpPr>
            <p:cNvPr id="43" name="AutoShape 43"/>
            <p:cNvSpPr/>
            <p:nvPr/>
          </p:nvSpPr>
          <p:spPr>
            <a:xfrm flipV="1">
              <a:off x="7276012" y="399534"/>
              <a:ext cx="3050807" cy="0"/>
            </a:xfrm>
            <a:prstGeom prst="line">
              <a:avLst/>
            </a:prstGeom>
            <a:ln w="63500" cap="rnd">
              <a:solidFill>
                <a:srgbClr val="FBAB05"/>
              </a:solidFill>
              <a:prstDash val="sysDash"/>
              <a:headEnd type="none" w="sm" len="sm"/>
              <a:tailEnd type="oval" w="lg" len="lg"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2923807" y="0"/>
              <a:ext cx="4403005" cy="862568"/>
              <a:chOff x="0" y="0"/>
              <a:chExt cx="2074482" cy="4064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207448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074482" h="406400">
                    <a:moveTo>
                      <a:pt x="1871282" y="0"/>
                    </a:moveTo>
                    <a:cubicBezTo>
                      <a:pt x="1983506" y="0"/>
                      <a:pt x="2074482" y="90976"/>
                      <a:pt x="2074482" y="203200"/>
                    </a:cubicBezTo>
                    <a:cubicBezTo>
                      <a:pt x="2074482" y="315424"/>
                      <a:pt x="1983506" y="406400"/>
                      <a:pt x="1871282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F7EC"/>
              </a:solidFill>
              <a:ln w="47625" cap="sq">
                <a:solidFill>
                  <a:srgbClr val="BC6C0C"/>
                </a:solidFill>
                <a:prstDash val="solid"/>
                <a:miter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0" y="-47625"/>
                <a:ext cx="2074482" cy="454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3150189" y="33138"/>
              <a:ext cx="3950241" cy="7296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19"/>
                </a:lnSpc>
                <a:spcBef>
                  <a:spcPct val="0"/>
                </a:spcBef>
              </a:pPr>
              <a:r>
                <a:rPr lang="en-US" sz="3299" b="1">
                  <a:solidFill>
                    <a:srgbClr val="70170A"/>
                  </a:solidFill>
                  <a:latin typeface="Saira ExtraCondensed Semi-Bold"/>
                  <a:ea typeface="Saira ExtraCondensed Semi-Bold"/>
                  <a:cs typeface="Saira ExtraCondensed Semi-Bold"/>
                  <a:sym typeface="Saira ExtraCondensed Semi-Bold"/>
                </a:rPr>
                <a:t>PEDRO ANDRADE</a:t>
              </a:r>
            </a:p>
          </p:txBody>
        </p:sp>
      </p:grpSp>
      <p:sp>
        <p:nvSpPr>
          <p:cNvPr id="48" name="Freeform 48"/>
          <p:cNvSpPr/>
          <p:nvPr/>
        </p:nvSpPr>
        <p:spPr>
          <a:xfrm>
            <a:off x="15222458" y="-794785"/>
            <a:ext cx="5555003" cy="5555003"/>
          </a:xfrm>
          <a:custGeom>
            <a:avLst/>
            <a:gdLst/>
            <a:ahLst/>
            <a:cxnLst/>
            <a:rect l="l" t="t" r="r" b="b"/>
            <a:pathLst>
              <a:path w="5555003" h="5555003">
                <a:moveTo>
                  <a:pt x="0" y="0"/>
                </a:moveTo>
                <a:lnTo>
                  <a:pt x="5555003" y="0"/>
                </a:lnTo>
                <a:lnTo>
                  <a:pt x="5555003" y="5555003"/>
                </a:lnTo>
                <a:lnTo>
                  <a:pt x="0" y="55550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1233542" y="3424587"/>
            <a:ext cx="9525041" cy="1892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0"/>
              </a:lnSpc>
            </a:pPr>
            <a:r>
              <a:rPr lang="en-US" sz="11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FOCUS NOW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33542" y="5849357"/>
            <a:ext cx="9525041" cy="2432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Blinker"/>
                <a:ea typeface="Blinker"/>
                <a:cs typeface="Blinker"/>
                <a:sym typeface="Blinker"/>
              </a:rPr>
              <a:t>TIMER POMODORO</a:t>
            </a:r>
          </a:p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Blinker"/>
                <a:ea typeface="Blinker"/>
                <a:cs typeface="Blinker"/>
                <a:sym typeface="Blinker"/>
              </a:rPr>
              <a:t>COM GAMIFICAÇÃO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6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10800000">
            <a:off x="1047807" y="1000125"/>
            <a:ext cx="1763453" cy="0"/>
          </a:xfrm>
          <a:prstGeom prst="line">
            <a:avLst/>
          </a:prstGeom>
          <a:ln w="95250" cap="rnd">
            <a:solidFill>
              <a:srgbClr val="FFC7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5399866">
            <a:off x="311309" y="1717546"/>
            <a:ext cx="1472940" cy="0"/>
          </a:xfrm>
          <a:prstGeom prst="line">
            <a:avLst/>
          </a:prstGeom>
          <a:ln w="95250" cap="rnd">
            <a:solidFill>
              <a:srgbClr val="FFC7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8599519" y="330602"/>
            <a:ext cx="4417100" cy="9625796"/>
          </a:xfrm>
          <a:custGeom>
            <a:avLst/>
            <a:gdLst/>
            <a:ahLst/>
            <a:cxnLst/>
            <a:rect l="l" t="t" r="r" b="b"/>
            <a:pathLst>
              <a:path w="4417100" h="9625796">
                <a:moveTo>
                  <a:pt x="0" y="0"/>
                </a:moveTo>
                <a:lnTo>
                  <a:pt x="4417100" y="0"/>
                </a:lnTo>
                <a:lnTo>
                  <a:pt x="4417100" y="9625796"/>
                </a:lnTo>
                <a:lnTo>
                  <a:pt x="0" y="9625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sp>
      <p:sp>
        <p:nvSpPr>
          <p:cNvPr id="5" name="Freeform 5"/>
          <p:cNvSpPr/>
          <p:nvPr/>
        </p:nvSpPr>
        <p:spPr>
          <a:xfrm>
            <a:off x="13314890" y="330602"/>
            <a:ext cx="4480370" cy="9625796"/>
          </a:xfrm>
          <a:custGeom>
            <a:avLst/>
            <a:gdLst/>
            <a:ahLst/>
            <a:cxnLst/>
            <a:rect l="l" t="t" r="r" b="b"/>
            <a:pathLst>
              <a:path w="4480370" h="9625796">
                <a:moveTo>
                  <a:pt x="0" y="0"/>
                </a:moveTo>
                <a:lnTo>
                  <a:pt x="4480370" y="0"/>
                </a:lnTo>
                <a:lnTo>
                  <a:pt x="4480370" y="9625796"/>
                </a:lnTo>
                <a:lnTo>
                  <a:pt x="0" y="9625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sp>
      <p:sp>
        <p:nvSpPr>
          <p:cNvPr id="6" name="TextBox 6"/>
          <p:cNvSpPr txBox="1"/>
          <p:nvPr/>
        </p:nvSpPr>
        <p:spPr>
          <a:xfrm>
            <a:off x="1821407" y="4201269"/>
            <a:ext cx="6267922" cy="4768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Hoje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, as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distrações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digitais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dificultam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a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concentração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nos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estudos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e no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trabalho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3000" dirty="0">
              <a:solidFill>
                <a:srgbClr val="F2EBD7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Métodos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como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o Pomodoro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ajudam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, mas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os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apps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atuais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são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simples,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sem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incentivo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para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uso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contínuo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21407" y="1376735"/>
            <a:ext cx="6596619" cy="260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40"/>
              </a:lnSpc>
              <a:spcBef>
                <a:spcPct val="0"/>
              </a:spcBef>
            </a:pPr>
            <a:r>
              <a:rPr lang="en-US" sz="5700" spc="330">
                <a:solidFill>
                  <a:srgbClr val="F2EBD7"/>
                </a:solidFill>
                <a:latin typeface="Lexend Deca"/>
                <a:ea typeface="Lexend Deca"/>
                <a:cs typeface="Lexend Deca"/>
                <a:sym typeface="Lexend Deca"/>
              </a:rPr>
              <a:t>POR QUE O FOCUSNOW FOI CRIADO?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6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10800000">
            <a:off x="1047807" y="1000125"/>
            <a:ext cx="1763453" cy="0"/>
          </a:xfrm>
          <a:prstGeom prst="line">
            <a:avLst/>
          </a:prstGeom>
          <a:ln w="95250" cap="rnd">
            <a:solidFill>
              <a:srgbClr val="FFC7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5399866">
            <a:off x="311309" y="1717546"/>
            <a:ext cx="1472940" cy="0"/>
          </a:xfrm>
          <a:prstGeom prst="line">
            <a:avLst/>
          </a:prstGeom>
          <a:ln w="95250" cap="rnd">
            <a:solidFill>
              <a:srgbClr val="FFC7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8599519" y="330602"/>
            <a:ext cx="4417100" cy="9625796"/>
          </a:xfrm>
          <a:custGeom>
            <a:avLst/>
            <a:gdLst/>
            <a:ahLst/>
            <a:cxnLst/>
            <a:rect l="l" t="t" r="r" b="b"/>
            <a:pathLst>
              <a:path w="4417100" h="9625796">
                <a:moveTo>
                  <a:pt x="0" y="0"/>
                </a:moveTo>
                <a:lnTo>
                  <a:pt x="4417100" y="0"/>
                </a:lnTo>
                <a:lnTo>
                  <a:pt x="4417100" y="9625796"/>
                </a:lnTo>
                <a:lnTo>
                  <a:pt x="0" y="9625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4" r="-914"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sp>
      <p:sp>
        <p:nvSpPr>
          <p:cNvPr id="5" name="Freeform 5"/>
          <p:cNvSpPr/>
          <p:nvPr/>
        </p:nvSpPr>
        <p:spPr>
          <a:xfrm>
            <a:off x="13530969" y="330602"/>
            <a:ext cx="4287854" cy="9625796"/>
          </a:xfrm>
          <a:custGeom>
            <a:avLst/>
            <a:gdLst/>
            <a:ahLst/>
            <a:cxnLst/>
            <a:rect l="l" t="t" r="r" b="b"/>
            <a:pathLst>
              <a:path w="4287854" h="9625796">
                <a:moveTo>
                  <a:pt x="0" y="0"/>
                </a:moveTo>
                <a:lnTo>
                  <a:pt x="4287855" y="0"/>
                </a:lnTo>
                <a:lnTo>
                  <a:pt x="4287855" y="9625796"/>
                </a:lnTo>
                <a:lnTo>
                  <a:pt x="0" y="9625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sp>
      <p:sp>
        <p:nvSpPr>
          <p:cNvPr id="6" name="TextBox 6"/>
          <p:cNvSpPr txBox="1"/>
          <p:nvPr/>
        </p:nvSpPr>
        <p:spPr>
          <a:xfrm>
            <a:off x="1821407" y="4201269"/>
            <a:ext cx="6267922" cy="3383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Criar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um app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que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ajude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o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usuário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a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manter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o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foco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tornando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o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processo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mais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divertido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e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motivador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com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recompensas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pontos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e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frases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motivacionais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21407" y="1810122"/>
            <a:ext cx="6596619" cy="173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40"/>
              </a:lnSpc>
              <a:spcBef>
                <a:spcPct val="0"/>
              </a:spcBef>
            </a:pPr>
            <a:r>
              <a:rPr lang="en-US" sz="5700" spc="330">
                <a:solidFill>
                  <a:srgbClr val="F2EBD7"/>
                </a:solidFill>
                <a:latin typeface="Lexend Deca"/>
                <a:ea typeface="Lexend Deca"/>
                <a:cs typeface="Lexend Deca"/>
                <a:sym typeface="Lexend Deca"/>
              </a:rPr>
              <a:t>NOSSO OBJETIVO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6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10800000">
            <a:off x="1047807" y="1000125"/>
            <a:ext cx="1763453" cy="0"/>
          </a:xfrm>
          <a:prstGeom prst="line">
            <a:avLst/>
          </a:prstGeom>
          <a:ln w="95250" cap="rnd">
            <a:solidFill>
              <a:srgbClr val="FFC7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5399866">
            <a:off x="311309" y="1717546"/>
            <a:ext cx="1472940" cy="0"/>
          </a:xfrm>
          <a:prstGeom prst="line">
            <a:avLst/>
          </a:prstGeom>
          <a:ln w="95250" cap="rnd">
            <a:solidFill>
              <a:srgbClr val="FFC7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8698826" y="330602"/>
            <a:ext cx="4182946" cy="9576776"/>
          </a:xfrm>
          <a:custGeom>
            <a:avLst/>
            <a:gdLst/>
            <a:ahLst/>
            <a:cxnLst/>
            <a:rect l="l" t="t" r="r" b="b"/>
            <a:pathLst>
              <a:path w="4182946" h="9576776">
                <a:moveTo>
                  <a:pt x="0" y="0"/>
                </a:moveTo>
                <a:lnTo>
                  <a:pt x="4182946" y="0"/>
                </a:lnTo>
                <a:lnTo>
                  <a:pt x="4182946" y="9576776"/>
                </a:lnTo>
                <a:lnTo>
                  <a:pt x="0" y="95767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20"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sp>
      <p:sp>
        <p:nvSpPr>
          <p:cNvPr id="5" name="Freeform 5"/>
          <p:cNvSpPr/>
          <p:nvPr/>
        </p:nvSpPr>
        <p:spPr>
          <a:xfrm>
            <a:off x="13396947" y="330602"/>
            <a:ext cx="4457554" cy="9576776"/>
          </a:xfrm>
          <a:custGeom>
            <a:avLst/>
            <a:gdLst/>
            <a:ahLst/>
            <a:cxnLst/>
            <a:rect l="l" t="t" r="r" b="b"/>
            <a:pathLst>
              <a:path w="4457554" h="9576776">
                <a:moveTo>
                  <a:pt x="0" y="0"/>
                </a:moveTo>
                <a:lnTo>
                  <a:pt x="4457554" y="0"/>
                </a:lnTo>
                <a:lnTo>
                  <a:pt x="4457554" y="9576776"/>
                </a:lnTo>
                <a:lnTo>
                  <a:pt x="0" y="95767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96" b="-996"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sp>
      <p:sp>
        <p:nvSpPr>
          <p:cNvPr id="6" name="TextBox 6"/>
          <p:cNvSpPr txBox="1"/>
          <p:nvPr/>
        </p:nvSpPr>
        <p:spPr>
          <a:xfrm>
            <a:off x="1821407" y="4205660"/>
            <a:ext cx="6267922" cy="584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⏱ Timer Pomodoro (25 min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foco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+ 5 min pausa,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customizável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)</a:t>
            </a:r>
          </a:p>
          <a:p>
            <a:pPr algn="just">
              <a:lnSpc>
                <a:spcPts val="4200"/>
              </a:lnSpc>
            </a:pPr>
            <a:endParaRPr lang="en-US" sz="3000" dirty="0">
              <a:solidFill>
                <a:srgbClr val="F2EBD7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🧩 Sistema de Pontos (+20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por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ciclo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finalizado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)</a:t>
            </a:r>
          </a:p>
          <a:p>
            <a:pPr algn="just">
              <a:lnSpc>
                <a:spcPts val="4200"/>
              </a:lnSpc>
            </a:pPr>
            <a:endParaRPr lang="en-US" sz="3000" dirty="0">
              <a:solidFill>
                <a:srgbClr val="F2EBD7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🎁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Recompensas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(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Conquistas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, sons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relaxantes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)</a:t>
            </a:r>
          </a:p>
          <a:p>
            <a:pPr algn="just">
              <a:lnSpc>
                <a:spcPts val="4200"/>
              </a:lnSpc>
            </a:pPr>
            <a:endParaRPr lang="en-US" sz="3000" dirty="0">
              <a:solidFill>
                <a:srgbClr val="F2EBD7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📊 Histórico de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Produtividade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(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dias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e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semanas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21407" y="1376735"/>
            <a:ext cx="6596619" cy="260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40"/>
              </a:lnSpc>
              <a:spcBef>
                <a:spcPct val="0"/>
              </a:spcBef>
            </a:pPr>
            <a:r>
              <a:rPr lang="en-US" sz="5700" spc="330">
                <a:solidFill>
                  <a:srgbClr val="F2EBD7"/>
                </a:solidFill>
                <a:latin typeface="Lexend Deca"/>
                <a:ea typeface="Lexend Deca"/>
                <a:cs typeface="Lexend Deca"/>
                <a:sym typeface="Lexend Deca"/>
              </a:rPr>
              <a:t>O QUE O FOCUSNOW FAZ?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6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10800000">
            <a:off x="1047807" y="1000125"/>
            <a:ext cx="1763453" cy="0"/>
          </a:xfrm>
          <a:prstGeom prst="line">
            <a:avLst/>
          </a:prstGeom>
          <a:ln w="95250" cap="rnd">
            <a:solidFill>
              <a:srgbClr val="FFC7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5399866">
            <a:off x="311309" y="1717546"/>
            <a:ext cx="1472940" cy="0"/>
          </a:xfrm>
          <a:prstGeom prst="line">
            <a:avLst/>
          </a:prstGeom>
          <a:ln w="95250" cap="rnd">
            <a:solidFill>
              <a:srgbClr val="FFC7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8599519" y="330602"/>
            <a:ext cx="4417100" cy="9625796"/>
          </a:xfrm>
          <a:custGeom>
            <a:avLst/>
            <a:gdLst/>
            <a:ahLst/>
            <a:cxnLst/>
            <a:rect l="l" t="t" r="r" b="b"/>
            <a:pathLst>
              <a:path w="4417100" h="9625796">
                <a:moveTo>
                  <a:pt x="0" y="0"/>
                </a:moveTo>
                <a:lnTo>
                  <a:pt x="4417100" y="0"/>
                </a:lnTo>
                <a:lnTo>
                  <a:pt x="4417100" y="9625796"/>
                </a:lnTo>
                <a:lnTo>
                  <a:pt x="0" y="9625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78" r="-4678"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sp>
      <p:sp>
        <p:nvSpPr>
          <p:cNvPr id="5" name="Freeform 5"/>
          <p:cNvSpPr/>
          <p:nvPr/>
        </p:nvSpPr>
        <p:spPr>
          <a:xfrm>
            <a:off x="13396947" y="330602"/>
            <a:ext cx="4480370" cy="9625796"/>
          </a:xfrm>
          <a:custGeom>
            <a:avLst/>
            <a:gdLst/>
            <a:ahLst/>
            <a:cxnLst/>
            <a:rect l="l" t="t" r="r" b="b"/>
            <a:pathLst>
              <a:path w="4480370" h="9625796">
                <a:moveTo>
                  <a:pt x="0" y="0"/>
                </a:moveTo>
                <a:lnTo>
                  <a:pt x="4480370" y="0"/>
                </a:lnTo>
                <a:lnTo>
                  <a:pt x="4480370" y="9625796"/>
                </a:lnTo>
                <a:lnTo>
                  <a:pt x="0" y="9625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06" r="-3906"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sp>
      <p:sp>
        <p:nvSpPr>
          <p:cNvPr id="6" name="TextBox 6"/>
          <p:cNvSpPr txBox="1"/>
          <p:nvPr/>
        </p:nvSpPr>
        <p:spPr>
          <a:xfrm>
            <a:off x="1821407" y="4205660"/>
            <a:ext cx="6267922" cy="4768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A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maioria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dos apps Pomodoro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são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apenas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cronômetros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3000" dirty="0">
              <a:solidFill>
                <a:srgbClr val="F2EBD7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O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FocusNow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adiciona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gamificação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o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usuário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ganha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pontos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desbloqueia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conteúdos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e sente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prazer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em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0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voltar</a:t>
            </a:r>
            <a:r>
              <a:rPr lang="en-US" sz="30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a usar o app.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21407" y="1376735"/>
            <a:ext cx="6596619" cy="260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40"/>
              </a:lnSpc>
              <a:spcBef>
                <a:spcPct val="0"/>
              </a:spcBef>
            </a:pPr>
            <a:r>
              <a:rPr lang="en-US" sz="5700" spc="330" dirty="0">
                <a:solidFill>
                  <a:srgbClr val="F2EBD7"/>
                </a:solidFill>
                <a:latin typeface="Lexend Deca"/>
                <a:ea typeface="Lexend Deca"/>
                <a:cs typeface="Lexend Deca"/>
                <a:sym typeface="Lexend Deca"/>
              </a:rPr>
              <a:t>O QUE TORNA O FOCUSNOW DIFERENTE?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6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10800000">
            <a:off x="1047807" y="1000125"/>
            <a:ext cx="1763453" cy="0"/>
          </a:xfrm>
          <a:prstGeom prst="line">
            <a:avLst/>
          </a:prstGeom>
          <a:ln w="95250" cap="rnd">
            <a:solidFill>
              <a:srgbClr val="FFC7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5399866">
            <a:off x="311309" y="1717546"/>
            <a:ext cx="1472940" cy="0"/>
          </a:xfrm>
          <a:prstGeom prst="line">
            <a:avLst/>
          </a:prstGeom>
          <a:ln w="95250" cap="rnd">
            <a:solidFill>
              <a:srgbClr val="FFC7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9405304" y="417227"/>
            <a:ext cx="7853996" cy="4519341"/>
          </a:xfrm>
          <a:custGeom>
            <a:avLst/>
            <a:gdLst/>
            <a:ahLst/>
            <a:cxnLst/>
            <a:rect l="l" t="t" r="r" b="b"/>
            <a:pathLst>
              <a:path w="7853996" h="4519341">
                <a:moveTo>
                  <a:pt x="0" y="0"/>
                </a:moveTo>
                <a:lnTo>
                  <a:pt x="7853996" y="0"/>
                </a:lnTo>
                <a:lnTo>
                  <a:pt x="7853996" y="4519341"/>
                </a:lnTo>
                <a:lnTo>
                  <a:pt x="0" y="45193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73786"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sp>
      <p:sp>
        <p:nvSpPr>
          <p:cNvPr id="5" name="Freeform 5"/>
          <p:cNvSpPr/>
          <p:nvPr/>
        </p:nvSpPr>
        <p:spPr>
          <a:xfrm>
            <a:off x="9405304" y="5227722"/>
            <a:ext cx="7853996" cy="4496338"/>
          </a:xfrm>
          <a:custGeom>
            <a:avLst/>
            <a:gdLst/>
            <a:ahLst/>
            <a:cxnLst/>
            <a:rect l="l" t="t" r="r" b="b"/>
            <a:pathLst>
              <a:path w="7853996" h="4496338">
                <a:moveTo>
                  <a:pt x="0" y="0"/>
                </a:moveTo>
                <a:lnTo>
                  <a:pt x="7853996" y="0"/>
                </a:lnTo>
                <a:lnTo>
                  <a:pt x="7853996" y="4496338"/>
                </a:lnTo>
                <a:lnTo>
                  <a:pt x="0" y="44963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74675"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sp>
      <p:sp>
        <p:nvSpPr>
          <p:cNvPr id="6" name="TextBox 6"/>
          <p:cNvSpPr txBox="1"/>
          <p:nvPr/>
        </p:nvSpPr>
        <p:spPr>
          <a:xfrm>
            <a:off x="1821407" y="3794430"/>
            <a:ext cx="6267922" cy="592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1" lvl="1" indent="-302261" algn="just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Ionic 7 + Angular: (Front-End)</a:t>
            </a:r>
          </a:p>
          <a:p>
            <a:pPr marL="604521" lvl="1" indent="-302261" algn="just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Node.js: back-end e API</a:t>
            </a:r>
          </a:p>
          <a:p>
            <a:pPr marL="604521" lvl="1" indent="-302261" algn="just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Capacitor: </a:t>
            </a:r>
            <a:r>
              <a:rPr lang="en-US" sz="28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integração</a:t>
            </a:r>
            <a:r>
              <a:rPr lang="en-US" sz="28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com </a:t>
            </a:r>
            <a:r>
              <a:rPr lang="en-US" sz="28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recursos</a:t>
            </a:r>
            <a:r>
              <a:rPr lang="en-US" sz="28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8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nativos</a:t>
            </a:r>
            <a:r>
              <a:rPr lang="en-US" sz="28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( Ionic Framework – APK no Android)</a:t>
            </a:r>
          </a:p>
          <a:p>
            <a:pPr marL="604521" lvl="1" indent="-302261" algn="just">
              <a:lnSpc>
                <a:spcPts val="3920"/>
              </a:lnSpc>
              <a:buFont typeface="Arial"/>
              <a:buChar char="•"/>
            </a:pPr>
            <a:r>
              <a:rPr lang="en-US" sz="28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Armazenamento</a:t>
            </a:r>
            <a:r>
              <a:rPr lang="en-US" sz="28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Local: </a:t>
            </a:r>
            <a:r>
              <a:rPr lang="en-US" sz="28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salvar</a:t>
            </a:r>
            <a:r>
              <a:rPr lang="en-US" sz="28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8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pontuação</a:t>
            </a:r>
            <a:r>
              <a:rPr lang="en-US" sz="28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e histórico</a:t>
            </a:r>
          </a:p>
          <a:p>
            <a:pPr marL="604521" lvl="1" indent="-302261" algn="just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XAMPP: </a:t>
            </a:r>
            <a:r>
              <a:rPr lang="en-US" sz="28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suporte</a:t>
            </a:r>
            <a:r>
              <a:rPr lang="en-US" sz="28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para banco de dados</a:t>
            </a:r>
          </a:p>
          <a:p>
            <a:pPr marL="604521" lvl="1" indent="-302261" algn="just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GitHub: </a:t>
            </a:r>
            <a:r>
              <a:rPr lang="en-US" sz="28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versionamento</a:t>
            </a:r>
            <a:r>
              <a:rPr lang="en-US" sz="28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do </a:t>
            </a:r>
            <a:r>
              <a:rPr lang="en-US" sz="28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código</a:t>
            </a:r>
            <a:endParaRPr lang="en-US" sz="2800" dirty="0">
              <a:solidFill>
                <a:srgbClr val="F2EBD7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marL="604521" lvl="1" indent="-302261" algn="just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VSCode</a:t>
            </a:r>
            <a:r>
              <a:rPr lang="en-US" sz="28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: </a:t>
            </a:r>
            <a:r>
              <a:rPr lang="en-US" sz="28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ambiente</a:t>
            </a:r>
            <a:r>
              <a:rPr lang="en-US" sz="2800" dirty="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 de </a:t>
            </a:r>
            <a:r>
              <a:rPr lang="en-US" sz="2800" dirty="0" err="1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desenvolvimento</a:t>
            </a:r>
            <a:endParaRPr lang="en-US" sz="2800" dirty="0">
              <a:solidFill>
                <a:srgbClr val="F2EBD7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821407" y="1810122"/>
            <a:ext cx="6596619" cy="173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40"/>
              </a:lnSpc>
              <a:spcBef>
                <a:spcPct val="0"/>
              </a:spcBef>
            </a:pPr>
            <a:r>
              <a:rPr lang="en-US" sz="5700" spc="330">
                <a:solidFill>
                  <a:srgbClr val="F2EBD7"/>
                </a:solidFill>
                <a:latin typeface="Lexend Deca"/>
                <a:ea typeface="Lexend Deca"/>
                <a:cs typeface="Lexend Deca"/>
                <a:sym typeface="Lexend Deca"/>
              </a:rPr>
              <a:t>FERRAMENTAS E TECNOLOGIAS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6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10800000">
            <a:off x="1047807" y="1000125"/>
            <a:ext cx="1763453" cy="0"/>
          </a:xfrm>
          <a:prstGeom prst="line">
            <a:avLst/>
          </a:prstGeom>
          <a:ln w="95250" cap="rnd">
            <a:solidFill>
              <a:srgbClr val="FFC7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5399866">
            <a:off x="311309" y="1717546"/>
            <a:ext cx="1472940" cy="0"/>
          </a:xfrm>
          <a:prstGeom prst="line">
            <a:avLst/>
          </a:prstGeom>
          <a:ln w="95250" cap="rnd">
            <a:solidFill>
              <a:srgbClr val="FFC7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8599519" y="330602"/>
            <a:ext cx="4417100" cy="9625796"/>
          </a:xfrm>
          <a:custGeom>
            <a:avLst/>
            <a:gdLst/>
            <a:ahLst/>
            <a:cxnLst/>
            <a:rect l="l" t="t" r="r" b="b"/>
            <a:pathLst>
              <a:path w="4417100" h="9625796">
                <a:moveTo>
                  <a:pt x="0" y="0"/>
                </a:moveTo>
                <a:lnTo>
                  <a:pt x="4417100" y="0"/>
                </a:lnTo>
                <a:lnTo>
                  <a:pt x="4417100" y="9625796"/>
                </a:lnTo>
                <a:lnTo>
                  <a:pt x="0" y="9625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84" r="-4084"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sp>
      <p:sp>
        <p:nvSpPr>
          <p:cNvPr id="5" name="Freeform 5"/>
          <p:cNvSpPr/>
          <p:nvPr/>
        </p:nvSpPr>
        <p:spPr>
          <a:xfrm>
            <a:off x="13396947" y="330602"/>
            <a:ext cx="4480370" cy="9625796"/>
          </a:xfrm>
          <a:custGeom>
            <a:avLst/>
            <a:gdLst/>
            <a:ahLst/>
            <a:cxnLst/>
            <a:rect l="l" t="t" r="r" b="b"/>
            <a:pathLst>
              <a:path w="4480370" h="9625796">
                <a:moveTo>
                  <a:pt x="0" y="0"/>
                </a:moveTo>
                <a:lnTo>
                  <a:pt x="4480370" y="0"/>
                </a:lnTo>
                <a:lnTo>
                  <a:pt x="4480370" y="9625796"/>
                </a:lnTo>
                <a:lnTo>
                  <a:pt x="0" y="9625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249" r="-6249"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sp>
      <p:sp>
        <p:nvSpPr>
          <p:cNvPr id="6" name="TextBox 6"/>
          <p:cNvSpPr txBox="1"/>
          <p:nvPr/>
        </p:nvSpPr>
        <p:spPr>
          <a:xfrm>
            <a:off x="1821407" y="4142004"/>
            <a:ext cx="6243732" cy="3282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1" lvl="1" indent="-302261" algn="just">
              <a:lnSpc>
                <a:spcPts val="6692"/>
              </a:lnSpc>
              <a:buFont typeface="Arial"/>
              <a:buChar char="•"/>
            </a:pPr>
            <a:r>
              <a:rPr lang="en-US" sz="280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Sistema de login e senha</a:t>
            </a:r>
          </a:p>
          <a:p>
            <a:pPr marL="604521" lvl="1" indent="-302261" algn="just">
              <a:lnSpc>
                <a:spcPts val="6692"/>
              </a:lnSpc>
              <a:buFont typeface="Arial"/>
              <a:buChar char="•"/>
            </a:pPr>
            <a:r>
              <a:rPr lang="en-US" sz="280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Recuperação de senha via e-mail</a:t>
            </a:r>
          </a:p>
          <a:p>
            <a:pPr marL="604521" lvl="1" indent="-302261" algn="just">
              <a:lnSpc>
                <a:spcPts val="6692"/>
              </a:lnSpc>
              <a:buFont typeface="Arial"/>
              <a:buChar char="•"/>
            </a:pPr>
            <a:r>
              <a:rPr lang="en-US" sz="280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Armazenamento seguro das informações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21407" y="1376735"/>
            <a:ext cx="6596619" cy="260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40"/>
              </a:lnSpc>
              <a:spcBef>
                <a:spcPct val="0"/>
              </a:spcBef>
            </a:pPr>
            <a:r>
              <a:rPr lang="en-US" sz="5700" spc="330">
                <a:solidFill>
                  <a:srgbClr val="F2EBD7"/>
                </a:solidFill>
                <a:latin typeface="Lexend Deca"/>
                <a:ea typeface="Lexend Deca"/>
                <a:cs typeface="Lexend Deca"/>
                <a:sym typeface="Lexend Deca"/>
              </a:rPr>
              <a:t>SEGURANÇA E ACESSO AO USUÁRIO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6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10800000">
            <a:off x="1047807" y="1000125"/>
            <a:ext cx="1763453" cy="0"/>
          </a:xfrm>
          <a:prstGeom prst="line">
            <a:avLst/>
          </a:prstGeom>
          <a:ln w="95250" cap="rnd">
            <a:solidFill>
              <a:srgbClr val="FFC7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5399866">
            <a:off x="311309" y="1717546"/>
            <a:ext cx="1472940" cy="0"/>
          </a:xfrm>
          <a:prstGeom prst="line">
            <a:avLst/>
          </a:prstGeom>
          <a:ln w="95250" cap="rnd">
            <a:solidFill>
              <a:srgbClr val="FFC7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8599519" y="330602"/>
            <a:ext cx="4417100" cy="9625796"/>
          </a:xfrm>
          <a:custGeom>
            <a:avLst/>
            <a:gdLst/>
            <a:ahLst/>
            <a:cxnLst/>
            <a:rect l="l" t="t" r="r" b="b"/>
            <a:pathLst>
              <a:path w="4417100" h="9625796">
                <a:moveTo>
                  <a:pt x="0" y="0"/>
                </a:moveTo>
                <a:lnTo>
                  <a:pt x="4417100" y="0"/>
                </a:lnTo>
                <a:lnTo>
                  <a:pt x="4417100" y="9625796"/>
                </a:lnTo>
                <a:lnTo>
                  <a:pt x="0" y="9625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838" r="-8838"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sp>
      <p:sp>
        <p:nvSpPr>
          <p:cNvPr id="5" name="Freeform 5"/>
          <p:cNvSpPr/>
          <p:nvPr/>
        </p:nvSpPr>
        <p:spPr>
          <a:xfrm>
            <a:off x="13396947" y="330602"/>
            <a:ext cx="4480370" cy="9625796"/>
          </a:xfrm>
          <a:custGeom>
            <a:avLst/>
            <a:gdLst/>
            <a:ahLst/>
            <a:cxnLst/>
            <a:rect l="l" t="t" r="r" b="b"/>
            <a:pathLst>
              <a:path w="4480370" h="9625796">
                <a:moveTo>
                  <a:pt x="0" y="0"/>
                </a:moveTo>
                <a:lnTo>
                  <a:pt x="4480370" y="0"/>
                </a:lnTo>
                <a:lnTo>
                  <a:pt x="4480370" y="9625796"/>
                </a:lnTo>
                <a:lnTo>
                  <a:pt x="0" y="9625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279" r="-9279"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sp>
      <p:sp>
        <p:nvSpPr>
          <p:cNvPr id="6" name="TextBox 6"/>
          <p:cNvSpPr txBox="1"/>
          <p:nvPr/>
        </p:nvSpPr>
        <p:spPr>
          <a:xfrm>
            <a:off x="1821407" y="4070189"/>
            <a:ext cx="6243732" cy="4455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1" lvl="1" indent="-313055" algn="just">
              <a:lnSpc>
                <a:spcPts val="7250"/>
              </a:lnSpc>
              <a:buFont typeface="Arial"/>
              <a:buChar char="•"/>
            </a:pPr>
            <a:r>
              <a:rPr lang="en-US" sz="290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Melhora da concentração</a:t>
            </a:r>
          </a:p>
          <a:p>
            <a:pPr marL="626111" lvl="1" indent="-313055" algn="just">
              <a:lnSpc>
                <a:spcPts val="7250"/>
              </a:lnSpc>
              <a:buFont typeface="Arial"/>
              <a:buChar char="•"/>
            </a:pPr>
            <a:r>
              <a:rPr lang="en-US" sz="290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Redução da procrastinação</a:t>
            </a:r>
          </a:p>
          <a:p>
            <a:pPr marL="626111" lvl="1" indent="-313055" algn="just">
              <a:lnSpc>
                <a:spcPts val="7250"/>
              </a:lnSpc>
              <a:buFont typeface="Arial"/>
              <a:buChar char="•"/>
            </a:pPr>
            <a:r>
              <a:rPr lang="en-US" sz="290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Aumento da produtividade</a:t>
            </a:r>
          </a:p>
          <a:p>
            <a:pPr marL="626111" lvl="1" indent="-313055" algn="just">
              <a:lnSpc>
                <a:spcPts val="7250"/>
              </a:lnSpc>
              <a:buFont typeface="Arial"/>
              <a:buChar char="•"/>
            </a:pPr>
            <a:r>
              <a:rPr lang="en-US" sz="290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Recompensas que motivam o uso</a:t>
            </a:r>
          </a:p>
          <a:p>
            <a:pPr marL="626111" lvl="1" indent="-313055" algn="just">
              <a:lnSpc>
                <a:spcPts val="7250"/>
              </a:lnSpc>
              <a:buFont typeface="Arial"/>
              <a:buChar char="•"/>
            </a:pPr>
            <a:r>
              <a:rPr lang="en-US" sz="290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Experiência positiva e relaxante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21407" y="1810122"/>
            <a:ext cx="6596619" cy="173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40"/>
              </a:lnSpc>
              <a:spcBef>
                <a:spcPct val="0"/>
              </a:spcBef>
            </a:pPr>
            <a:r>
              <a:rPr lang="en-US" sz="5700" spc="330">
                <a:solidFill>
                  <a:srgbClr val="F2EBD7"/>
                </a:solidFill>
                <a:latin typeface="Lexend Deca"/>
                <a:ea typeface="Lexend Deca"/>
                <a:cs typeface="Lexend Deca"/>
                <a:sym typeface="Lexend Deca"/>
              </a:rPr>
              <a:t>POR QUE USAR O FOCUSNOW?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6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698C64-E2F6-D3E5-E8CA-84BE5CCEC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8335B48-1E96-9182-43A6-CC693BCD7E1B}"/>
              </a:ext>
            </a:extLst>
          </p:cNvPr>
          <p:cNvSpPr/>
          <p:nvPr/>
        </p:nvSpPr>
        <p:spPr>
          <a:xfrm rot="-10800000">
            <a:off x="1047807" y="1000125"/>
            <a:ext cx="1763453" cy="0"/>
          </a:xfrm>
          <a:prstGeom prst="line">
            <a:avLst/>
          </a:prstGeom>
          <a:ln w="95250" cap="rnd">
            <a:solidFill>
              <a:srgbClr val="FFC7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FA757FD-FB39-F88E-2757-C06460DD15FB}"/>
              </a:ext>
            </a:extLst>
          </p:cNvPr>
          <p:cNvSpPr/>
          <p:nvPr/>
        </p:nvSpPr>
        <p:spPr>
          <a:xfrm rot="5399866">
            <a:off x="311309" y="1740030"/>
            <a:ext cx="1472940" cy="0"/>
          </a:xfrm>
          <a:prstGeom prst="line">
            <a:avLst/>
          </a:prstGeom>
          <a:ln w="95250" cap="rnd">
            <a:solidFill>
              <a:srgbClr val="FFC7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1749B39-F7A8-1577-D3D8-51EC430E438F}"/>
              </a:ext>
            </a:extLst>
          </p:cNvPr>
          <p:cNvSpPr txBox="1"/>
          <p:nvPr/>
        </p:nvSpPr>
        <p:spPr>
          <a:xfrm>
            <a:off x="1434578" y="1273017"/>
            <a:ext cx="15418843" cy="7740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pt-BR" sz="5700" spc="330" dirty="0">
                <a:solidFill>
                  <a:srgbClr val="F2EBD7"/>
                </a:solidFill>
                <a:latin typeface="Lexend Deca"/>
                <a:ea typeface="Lexend Deca"/>
                <a:cs typeface="Lexend Deca"/>
                <a:sym typeface="Lexend Deca"/>
              </a:rPr>
              <a:t>O FOCUSNOW TRANSFORMA A MANEIRA DE ESTUDAR E TRABALHAR, UNINDO FOCO, MOTIVAÇÃO E TECNOLOGIA. UM PROJETO QUE MOSTRA O PODER DA GAMIFICAÇÃO APLICADA À PRODUTIVIDADE.</a:t>
            </a:r>
            <a:endParaRPr lang="en-US" sz="5700" spc="330" dirty="0">
              <a:solidFill>
                <a:srgbClr val="F2EBD7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AAAF556D-7B69-6693-B916-5DAB0A8E2B42}"/>
              </a:ext>
            </a:extLst>
          </p:cNvPr>
          <p:cNvSpPr/>
          <p:nvPr/>
        </p:nvSpPr>
        <p:spPr>
          <a:xfrm rot="5400000">
            <a:off x="17025273" y="8713084"/>
            <a:ext cx="1763453" cy="0"/>
          </a:xfrm>
          <a:prstGeom prst="line">
            <a:avLst/>
          </a:prstGeom>
          <a:ln w="95250" cap="rnd">
            <a:solidFill>
              <a:srgbClr val="FFC7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CDF2DA2A-51CD-672E-EEDD-F6AE07684DA1}"/>
              </a:ext>
            </a:extLst>
          </p:cNvPr>
          <p:cNvSpPr/>
          <p:nvPr/>
        </p:nvSpPr>
        <p:spPr>
          <a:xfrm rot="21599866">
            <a:off x="16434060" y="9594782"/>
            <a:ext cx="1472940" cy="0"/>
          </a:xfrm>
          <a:prstGeom prst="line">
            <a:avLst/>
          </a:prstGeom>
          <a:ln w="95250" cap="rnd">
            <a:solidFill>
              <a:srgbClr val="FFC74B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7646651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Cortar</Template>
  <TotalTime>37</TotalTime>
  <Words>295</Words>
  <Application>Microsoft Office PowerPoint</Application>
  <PresentationFormat>Personalizar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7" baseType="lpstr">
      <vt:lpstr>Arial</vt:lpstr>
      <vt:lpstr>Saira ExtraCondensed Semi-Bold</vt:lpstr>
      <vt:lpstr>Clear Sans</vt:lpstr>
      <vt:lpstr>Blinker</vt:lpstr>
      <vt:lpstr>League Spartan</vt:lpstr>
      <vt:lpstr>Lexend Deca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FOCUSNOW</dc:title>
  <cp:lastModifiedBy>OUTLIER</cp:lastModifiedBy>
  <cp:revision>9</cp:revision>
  <dcterms:created xsi:type="dcterms:W3CDTF">2006-08-16T00:00:00Z</dcterms:created>
  <dcterms:modified xsi:type="dcterms:W3CDTF">2025-11-11T17:10:34Z</dcterms:modified>
  <dc:identifier>DAG4Km1n9vM</dc:identifier>
</cp:coreProperties>
</file>